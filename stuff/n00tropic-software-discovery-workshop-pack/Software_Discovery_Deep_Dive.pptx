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Software Discovery Workshop (90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Goal: exit with decisions, risks, and owners — not vibes.</a:t>
            </a:r>
          </a:p>
          <a:p>
            <a:pPr>
              <a:defRPr sz="2200"/>
            </a:pPr>
            <a:r>
              <a:t>Artifacts: updated Intake, ADR backlog, Architecture outline, Test &amp; Release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Agenda &amp; Timeboxes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0) Outcomes &amp; success metrics (10)</a:t>
            </a:r>
          </a:p>
          <a:p>
            <a:pPr>
              <a:defRPr sz="2200"/>
            </a:pPr>
            <a:r>
              <a:t>1) Users, jobs &amp; UX (10)</a:t>
            </a:r>
          </a:p>
          <a:p>
            <a:pPr>
              <a:defRPr sz="2200"/>
            </a:pPr>
            <a:r>
              <a:t>2) Scope &amp; constraints (10)</a:t>
            </a:r>
          </a:p>
          <a:p>
            <a:pPr>
              <a:defRPr sz="2200"/>
            </a:pPr>
            <a:r>
              <a:t>3) Architecture (C4) (10)</a:t>
            </a:r>
          </a:p>
          <a:p>
            <a:pPr>
              <a:defRPr sz="2200"/>
            </a:pPr>
            <a:r>
              <a:t>4) Data &amp; contracts (10)</a:t>
            </a:r>
          </a:p>
          <a:p>
            <a:pPr>
              <a:defRPr sz="2200"/>
            </a:pPr>
            <a:r>
              <a:t>5) NFRs (SLOs/perf/security/privacy) (10)</a:t>
            </a:r>
          </a:p>
          <a:p>
            <a:pPr>
              <a:defRPr sz="2200"/>
            </a:pPr>
            <a:r>
              <a:t>6) DevEx &amp; toolchain criteria (10)</a:t>
            </a:r>
          </a:p>
          <a:p>
            <a:pPr>
              <a:defRPr sz="2200"/>
            </a:pPr>
            <a:r>
              <a:t>7) Testing &amp; quality gates (10)</a:t>
            </a:r>
          </a:p>
          <a:p>
            <a:pPr>
              <a:defRPr sz="2200"/>
            </a:pPr>
            <a:r>
              <a:t>8) CI/CD &amp; release (5)</a:t>
            </a:r>
          </a:p>
          <a:p>
            <a:pPr>
              <a:defRPr sz="2200"/>
            </a:pPr>
            <a:r>
              <a:t>9) Observability &amp; ops (5)</a:t>
            </a:r>
          </a:p>
          <a:p>
            <a:pPr>
              <a:defRPr sz="2200"/>
            </a:pPr>
            <a:r>
              <a:t>10) Risks &amp; decisions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Outcomes &amp;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Top 3 outcomes (measurable).</a:t>
            </a:r>
          </a:p>
          <a:p>
            <a:pPr>
              <a:defRPr sz="2200"/>
            </a:pPr>
            <a:r>
              <a:t>Define KPIs, baseline, and target.</a:t>
            </a:r>
          </a:p>
          <a:p>
            <a:pPr>
              <a:defRPr sz="2200"/>
            </a:pPr>
            <a:r>
              <a:t>Agree what ‘done’ looks 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Users, Jobs &amp;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Primary personas &amp; jobs-to-be-done.</a:t>
            </a:r>
          </a:p>
          <a:p>
            <a:pPr>
              <a:defRPr sz="2200"/>
            </a:pPr>
            <a:r>
              <a:t>Top user flows.</a:t>
            </a:r>
          </a:p>
          <a:p>
            <a:pPr>
              <a:defRPr sz="2200"/>
            </a:pPr>
            <a:r>
              <a:t>Accessibility &amp; localisation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Scope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In vs out.</a:t>
            </a:r>
          </a:p>
          <a:p>
            <a:pPr>
              <a:defRPr sz="2200"/>
            </a:pPr>
            <a:r>
              <a:t>Regulatory, platform, runtime constraints.</a:t>
            </a:r>
          </a:p>
          <a:p>
            <a:pPr>
              <a:defRPr sz="2200"/>
            </a:pPr>
            <a:r>
              <a:t>Dependencies and sequencing.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Architecture (C4)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Context: actors &amp; neighbours.</a:t>
            </a:r>
          </a:p>
          <a:p>
            <a:pPr>
              <a:defRPr sz="2200"/>
            </a:pPr>
            <a:r>
              <a:t>Containers: services, UIs, jobs.</a:t>
            </a:r>
          </a:p>
          <a:p>
            <a:pPr>
              <a:defRPr sz="2200"/>
            </a:pPr>
            <a:r>
              <a:t>Components: key internals.</a:t>
            </a:r>
          </a:p>
          <a:p>
            <a:pPr>
              <a:defRPr sz="2200"/>
            </a:pPr>
            <a:r>
              <a:t>Trust boundaries &amp; cross-cutting concerns.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Data &amp;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Authoritative sources &amp; ownership.</a:t>
            </a:r>
          </a:p>
          <a:p>
            <a:pPr>
              <a:defRPr sz="2200"/>
            </a:pPr>
            <a:r>
              <a:t>Schemas &amp; API contracts (OpenAPI/GraphQL/AsyncAPI).</a:t>
            </a:r>
          </a:p>
          <a:p>
            <a:pPr>
              <a:defRPr sz="2200"/>
            </a:pPr>
            <a:r>
              <a:t>Retention, lineage, migrations.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Non‑Functional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Reliability: SLIs/SLOs.</a:t>
            </a:r>
          </a:p>
          <a:p>
            <a:pPr>
              <a:defRPr sz="2200"/>
            </a:pPr>
            <a:r>
              <a:t>Performance budgets &amp; capacity.</a:t>
            </a:r>
          </a:p>
          <a:p>
            <a:pPr>
              <a:defRPr sz="2200"/>
            </a:pPr>
            <a:r>
              <a:t>Security (ASVS) &amp; privacy (PII classes, residency).</a:t>
            </a:r>
          </a:p>
          <a:p>
            <a:pPr>
              <a:defRPr sz="2200"/>
            </a:pPr>
            <a:r>
              <a:t>Compliance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DevEx &amp;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Post‑discovery stack selection criteria: DX, maintainability, ecosystem, portability.</a:t>
            </a:r>
          </a:p>
          <a:p>
            <a:pPr>
              <a:defRPr sz="2200"/>
            </a:pPr>
            <a:r>
              <a:t>Repo conventions &amp; scripts.</a:t>
            </a:r>
          </a:p>
          <a:p>
            <a:pPr>
              <a:defRPr sz="2200"/>
            </a:pPr>
            <a:r>
              <a:t>Pre‑commit hooks &amp; local env.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Testing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Test pyramid: unit → integration → E2E → perf/security.</a:t>
            </a:r>
          </a:p>
          <a:p>
            <a:pPr>
              <a:defRPr sz="2200"/>
            </a:pPr>
            <a:r>
              <a:t>Coverage targets for critical paths.</a:t>
            </a:r>
          </a:p>
          <a:p>
            <a:pPr>
              <a:defRPr sz="2200"/>
            </a:pPr>
            <a:r>
              <a:t>CI gates: lint, static analysis, coverage, perf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CI/CD &amp;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Stages: build → test → scan → package.</a:t>
            </a:r>
          </a:p>
          <a:p>
            <a:pPr>
              <a:defRPr sz="2200"/>
            </a:pPr>
            <a:r>
              <a:t>Feature flags; canary/blue‑green; rollback.</a:t>
            </a:r>
          </a:p>
          <a:p>
            <a:pPr>
              <a:defRPr sz="2200"/>
            </a:pPr>
            <a:r>
              <a:t>Versioning and changelog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Observability &amp;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Logs/metrics/traces; dashboards &amp; alerts.</a:t>
            </a:r>
          </a:p>
          <a:p>
            <a:pPr>
              <a:defRPr sz="2200"/>
            </a:pPr>
            <a:r>
              <a:t>SLOs &amp; error‑budget policies.</a:t>
            </a:r>
          </a:p>
          <a:p>
            <a:pPr>
              <a:defRPr sz="2200"/>
            </a:pPr>
            <a:r>
              <a:t>Backups, DR, resilience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Decisions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Decisions → ADRs with owners &amp; dates.</a:t>
            </a:r>
          </a:p>
          <a:p>
            <a:pPr>
              <a:defRPr sz="2200"/>
            </a:pPr>
            <a:r>
              <a:t>Open questions → spikes (≤1 week).</a:t>
            </a:r>
          </a:p>
          <a:p>
            <a:pPr>
              <a:defRPr sz="2200"/>
            </a:pPr>
            <a:r>
              <a:t>Schedule the next checkpoint.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Software Discovery • 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