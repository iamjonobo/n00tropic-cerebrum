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AI‑Heavy Discovery Workshop (90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Goal: exit with decisions, risks, and owners — not vibes.</a:t>
            </a:r>
          </a:p>
          <a:p>
            <a:pPr>
              <a:defRPr sz="2200"/>
            </a:pPr>
            <a:r>
              <a:t>Artifacts: updated Intake, ADR backlog, Agent Spec outline, Guardrail matrix, Eval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Agenda &amp; Timeboxes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0) Outcomes &amp; tasks (10)</a:t>
            </a:r>
          </a:p>
          <a:p>
            <a:pPr>
              <a:defRPr sz="2200"/>
            </a:pPr>
            <a:r>
              <a:t>1) Autonomy &amp; HITL (10)</a:t>
            </a:r>
          </a:p>
          <a:p>
            <a:pPr>
              <a:defRPr sz="2200"/>
            </a:pPr>
            <a:r>
              <a:t>2) Models &amp; routing (10)</a:t>
            </a:r>
          </a:p>
          <a:p>
            <a:pPr>
              <a:defRPr sz="2200"/>
            </a:pPr>
            <a:r>
              <a:t>3) Prompts &amp; output contracts (10)</a:t>
            </a:r>
          </a:p>
          <a:p>
            <a:pPr>
              <a:defRPr sz="2200"/>
            </a:pPr>
            <a:r>
              <a:t>4) Tools &amp; permissions (10)</a:t>
            </a:r>
          </a:p>
          <a:p>
            <a:pPr>
              <a:defRPr sz="2200"/>
            </a:pPr>
            <a:r>
              <a:t>5) RAG &amp; freshness (10)</a:t>
            </a:r>
          </a:p>
          <a:p>
            <a:pPr>
              <a:defRPr sz="2200"/>
            </a:pPr>
            <a:r>
              <a:t>6) Safety &amp; policy (10)</a:t>
            </a:r>
          </a:p>
          <a:p>
            <a:pPr>
              <a:defRPr sz="2200"/>
            </a:pPr>
            <a:r>
              <a:t>7) Quality &amp; evals (10)</a:t>
            </a:r>
          </a:p>
          <a:p>
            <a:pPr>
              <a:defRPr sz="2200"/>
            </a:pPr>
            <a:r>
              <a:t>8) Delivery &amp; rollback (5)</a:t>
            </a:r>
          </a:p>
          <a:p>
            <a:pPr>
              <a:defRPr sz="2200"/>
            </a:pPr>
            <a:r>
              <a:t>9) Risks &amp; decisions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Outcomes &amp;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List top 3 measurable outcomes.</a:t>
            </a:r>
          </a:p>
          <a:p>
            <a:pPr>
              <a:defRPr sz="2200"/>
            </a:pPr>
            <a:r>
              <a:t>Inventory 5–8 atomic tasks (verb+object).</a:t>
            </a:r>
          </a:p>
          <a:p>
            <a:pPr>
              <a:defRPr sz="2200"/>
            </a:pPr>
            <a:r>
              <a:t>Define pass criteria per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Autonomy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Per task choose: Inform → Suggest → Approve → Execute → Exec+Notify.</a:t>
            </a:r>
          </a:p>
          <a:p>
            <a:pPr>
              <a:defRPr sz="2200"/>
            </a:pPr>
            <a:r>
              <a:t>Mark explicit HITL gates and reversibility/compensation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Models &amp;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Candidate models (hosted/self‑hosted).</a:t>
            </a:r>
          </a:p>
          <a:p>
            <a:pPr>
              <a:defRPr sz="2200"/>
            </a:pPr>
            <a:r>
              <a:t>Routing rules (by task/domain/latency/cost/policy).</a:t>
            </a:r>
          </a:p>
          <a:p>
            <a:pPr>
              <a:defRPr sz="2200"/>
            </a:pPr>
            <a:r>
              <a:t>Fallback plan; degraded but safe mode.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Prompts &amp; Output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System persona &amp; policy.</a:t>
            </a:r>
          </a:p>
          <a:p>
            <a:pPr>
              <a:defRPr sz="2200"/>
            </a:pPr>
            <a:r>
              <a:t>Canonical instructions &amp; reusable snippets.</a:t>
            </a:r>
          </a:p>
          <a:p>
            <a:pPr>
              <a:defRPr sz="2200"/>
            </a:pPr>
            <a:r>
              <a:t>Output must match JSON Schema / types; enable constrained decoding.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Tools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Tool catalog: inputs→outputs, side‑effects.</a:t>
            </a:r>
          </a:p>
          <a:p>
            <a:pPr>
              <a:defRPr sz="2200"/>
            </a:pPr>
            <a:r>
              <a:t>Least privilege (RBAC/ABAC), rate limits.</a:t>
            </a:r>
          </a:p>
          <a:p>
            <a:pPr>
              <a:defRPr sz="2200"/>
            </a:pPr>
            <a:r>
              <a:t>Idempotency, retries, transactions/sagas.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Knowledge, RAG &amp; 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Authoritative sources &amp; owners.</a:t>
            </a:r>
          </a:p>
          <a:p>
            <a:pPr>
              <a:defRPr sz="2200"/>
            </a:pPr>
            <a:r>
              <a:t>Indexing, chunking, metadata; tenant boundaries.</a:t>
            </a:r>
          </a:p>
          <a:p>
            <a:pPr>
              <a:defRPr sz="2200"/>
            </a:pPr>
            <a:r>
              <a:t>Freshness SLAs, invalidation; provenance/citations.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Safety, Abuse &amp;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Top risks: hallucination, injection, leakage, abuse, drift.</a:t>
            </a:r>
          </a:p>
          <a:p>
            <a:pPr>
              <a:defRPr sz="2200"/>
            </a:pPr>
            <a:r>
              <a:t>Prevent/Detect/Respond matrix; filters &amp; HITL.</a:t>
            </a:r>
          </a:p>
          <a:p>
            <a:pPr>
              <a:defRPr sz="2200"/>
            </a:pPr>
            <a:r>
              <a:t>Incident playbooks &amp; kill‑switches.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Quality, Metrics &amp; Evals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Offline: datasets &amp; metrics (EM/F1/etc.).</a:t>
            </a:r>
          </a:p>
          <a:p>
            <a:pPr>
              <a:defRPr sz="2200"/>
            </a:pPr>
            <a:r>
              <a:t>Online: A/B, user ratings, guardrail hits.</a:t>
            </a:r>
          </a:p>
          <a:p>
            <a:pPr>
              <a:defRPr sz="2200"/>
            </a:pPr>
            <a:r>
              <a:t>Regression gates; approval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Observability, Cost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Telemetry: prompts, routes, tool calls.</a:t>
            </a:r>
          </a:p>
          <a:p>
            <a:pPr>
              <a:defRPr sz="2200"/>
            </a:pPr>
            <a:r>
              <a:t>Privacy‑safe logging; scrubbing.</a:t>
            </a:r>
          </a:p>
          <a:p>
            <a:pPr>
              <a:defRPr sz="2200"/>
            </a:pPr>
            <a:r>
              <a:t>Latency (p95), cache strategy, token/cost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Delivery, Rollout &amp; Reversibility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Flags, canary/blue‑green, automated rollback.</a:t>
            </a:r>
          </a:p>
          <a:p>
            <a:pPr>
              <a:defRPr sz="2200"/>
            </a:pPr>
            <a:r>
              <a:t>Compliance sign‑offs.</a:t>
            </a:r>
          </a:p>
          <a:p>
            <a:pPr>
              <a:defRPr sz="2200"/>
            </a:pPr>
            <a:r>
              <a:t>What’s reversible in &lt; 1 week? What needs ADR + exec sign‑off?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Decisions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Decisions taken today → ADRs.</a:t>
            </a:r>
          </a:p>
          <a:p>
            <a:pPr>
              <a:defRPr sz="2200"/>
            </a:pPr>
            <a:r>
              <a:t>Open questions → spikes (≤1 week) with owners.</a:t>
            </a:r>
          </a:p>
          <a:p>
            <a:pPr>
              <a:defRPr sz="2200"/>
            </a:pPr>
            <a:r>
              <a:t>Dates for review; success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7878"/>
                </a:solidFill>
              </a:rPr>
              <a:t>n00tropic • AI‑Heavy Discovery •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